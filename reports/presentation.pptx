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11E6C7-61B4-4905-80D3-7975661D36A1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A37F1-8B7F-47A1-8B3A-5AB27C5CED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1801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6A37F1-8B7F-47A1-8B3A-5AB27C5CED9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735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99377" y="5173227"/>
            <a:ext cx="65185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E50914"/>
                </a:solidFill>
                <a:latin typeface="Arial"/>
              </a:defRPr>
            </a:pPr>
            <a:r>
              <a:rPr dirty="0" smtClean="0"/>
              <a:t>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53440" y="3223841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rial"/>
              </a:defRPr>
            </a:pPr>
            <a:r>
              <a:rPr dirty="0"/>
              <a:t>Personalized Recommendation System built on 100M+ Ratings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1233" y="4343006"/>
            <a:ext cx="103327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A0"/>
                </a:solidFill>
                <a:latin typeface="Arial"/>
              </a:defRPr>
            </a:pPr>
            <a:endParaRPr lang="en-US" dirty="0" smtClean="0"/>
          </a:p>
          <a:p>
            <a:pPr algn="l">
              <a:defRPr sz="1600" b="0">
                <a:solidFill>
                  <a:srgbClr val="A0A0A0"/>
                </a:solidFill>
                <a:latin typeface="Arial"/>
              </a:defRPr>
            </a:pPr>
            <a:endParaRPr lang="en-US" dirty="0" smtClean="0"/>
          </a:p>
          <a:p>
            <a:pPr algn="l">
              <a:defRPr sz="1600" b="0">
                <a:solidFill>
                  <a:srgbClr val="A0A0A0"/>
                </a:solidFill>
                <a:latin typeface="Arial"/>
              </a:defRPr>
            </a:pPr>
            <a:endParaRPr lang="en-US" dirty="0" smtClean="0"/>
          </a:p>
          <a:p>
            <a:pPr algn="l">
              <a:defRPr sz="1600" b="0">
                <a:solidFill>
                  <a:srgbClr val="A0A0A0"/>
                </a:solidFill>
                <a:latin typeface="Arial"/>
              </a:defRPr>
            </a:pPr>
            <a:r>
              <a:rPr lang="en-US" dirty="0" smtClean="0"/>
              <a:t>Tamanna</a:t>
            </a:r>
            <a:r>
              <a:rPr dirty="0" smtClean="0"/>
              <a:t/>
            </a:r>
            <a:br>
              <a:rPr dirty="0" smtClean="0"/>
            </a:br>
            <a:r>
              <a:rPr lang="en-US" dirty="0" smtClean="0"/>
              <a:t>23323043</a:t>
            </a:r>
          </a:p>
          <a:p>
            <a:pPr algn="l">
              <a:defRPr sz="1600" b="0">
                <a:solidFill>
                  <a:srgbClr val="A0A0A0"/>
                </a:solidFill>
                <a:latin typeface="Arial"/>
              </a:defRPr>
            </a:pPr>
            <a:r>
              <a:rPr lang="en-US" dirty="0" smtClean="0"/>
              <a:t>tamanna@ma.iitr.ac.in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2449946" y="1009591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 sz="4200" b="1">
                <a:solidFill>
                  <a:srgbClr val="E50914"/>
                </a:solidFill>
                <a:latin typeface="Arial"/>
              </a:defRPr>
            </a:pPr>
            <a:r>
              <a:rPr lang="en-IN" dirty="0"/>
              <a:t>NETFLIX RECOMMENDATION ENGINE</a:t>
            </a:r>
            <a:endParaRPr lang="en-IN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958" y="1077971"/>
            <a:ext cx="1796588" cy="183659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93133" y="5080894"/>
            <a:ext cx="6096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 sz="1600" b="0">
                <a:solidFill>
                  <a:srgbClr val="A0A0A0"/>
                </a:solidFill>
                <a:latin typeface="Arial"/>
              </a:defRPr>
            </a:pPr>
            <a:r>
              <a:rPr lang="en-US" dirty="0" err="1" smtClean="0"/>
              <a:t>Rajlaxmi</a:t>
            </a:r>
            <a:endParaRPr lang="en-US" dirty="0" smtClean="0"/>
          </a:p>
          <a:p>
            <a:pPr>
              <a:defRPr sz="1600" b="0">
                <a:solidFill>
                  <a:srgbClr val="A0A0A0"/>
                </a:solidFill>
                <a:latin typeface="Arial"/>
              </a:defRPr>
            </a:pPr>
            <a:r>
              <a:rPr lang="en-US" dirty="0" smtClean="0"/>
              <a:t>23112082</a:t>
            </a:r>
          </a:p>
          <a:p>
            <a:pPr>
              <a:defRPr sz="1600" b="0">
                <a:solidFill>
                  <a:srgbClr val="A0A0A0"/>
                </a:solidFill>
                <a:latin typeface="Arial"/>
              </a:defRPr>
            </a:pPr>
            <a:r>
              <a:rPr lang="en-US" dirty="0" smtClean="0"/>
              <a:t>rajlaxmi@ch.iitr.ac.in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5933358" y="5173227"/>
            <a:ext cx="723275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E50914"/>
                </a:solidFill>
                <a:latin typeface="Arial"/>
              </a:defRPr>
            </a:pPr>
            <a:r>
              <a:rPr lang="en-IN" dirty="0"/>
              <a:t>🎬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53440" y="4068047"/>
            <a:ext cx="297709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A0A0A0"/>
                </a:solidFill>
                <a:latin typeface="Arial"/>
              </a:defRPr>
            </a:pPr>
            <a:r>
              <a:rPr lang="en-IN" sz="2000" dirty="0"/>
              <a:t>Cult Open Projects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rPr sz="3600" dirty="0"/>
              <a:t>Problem Formulation &amp; Dataset Characteristics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Objective</a:t>
            </a:r>
            <a:r>
              <a:rPr sz="2000" dirty="0" smtClean="0">
                <a:solidFill>
                  <a:srgbClr val="FF0000"/>
                </a:solidFill>
              </a:rPr>
              <a:t>:</a:t>
            </a:r>
            <a:endParaRPr lang="en-US" sz="2000" dirty="0" smtClean="0">
              <a:solidFill>
                <a:srgbClr val="FF0000"/>
              </a:solidFill>
            </a:endParaRPr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 </a:t>
            </a:r>
            <a:r>
              <a:rPr dirty="0"/>
              <a:t>Predict user ratings (1 to 5 stars) for unseen movies and generate personalized Top-10 lists</a:t>
            </a:r>
            <a:r>
              <a:rPr dirty="0" smtClean="0"/>
              <a:t>.</a:t>
            </a:r>
            <a:endParaRPr lang="en-US" dirty="0" smtClean="0"/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lang="en-US" dirty="0" smtClean="0"/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Key Challenges in Recommender Systems: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Data </a:t>
            </a:r>
            <a:r>
              <a:rPr dirty="0" err="1"/>
              <a:t>Sparsity</a:t>
            </a:r>
            <a:r>
              <a:rPr dirty="0"/>
              <a:t>: Only a tiny fraction of user-movie pairs are rated.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Scalability: System must scale to handle 100M+ rows efficiently.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Cold Start: Handling users/items with minimal interaction history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Evaluation focus</a:t>
            </a:r>
            <a:r>
              <a:rPr sz="2000" dirty="0" smtClean="0">
                <a:solidFill>
                  <a:srgbClr val="FF0000"/>
                </a:solidFill>
              </a:rPr>
              <a:t>: </a:t>
            </a:r>
            <a:endParaRPr lang="en-US" sz="200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Optimizing </a:t>
            </a:r>
            <a:r>
              <a:rPr dirty="0"/>
              <a:t>Root Mean Squared Error (RMSE) and ranking-based Mean Average Precision (MAP@10).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846723"/>
              </p:ext>
            </p:extLst>
          </p:nvPr>
        </p:nvGraphicFramePr>
        <p:xfrm>
          <a:off x="6400800" y="1645920"/>
          <a:ext cx="53035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Metric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Sampled Dataset Value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Total Sampled Ratings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5,000,000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Unique Users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421,281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Unique Movies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15,807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 Sparsity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99.9248%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Mean Rating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3.6042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Median Rating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4.0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Standard Deviation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1.0827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 Date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1999-11-11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 Date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2005-12-31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rPr sz="3600" dirty="0"/>
              <a:t>Exploratory Data Analysis: 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22400"/>
            <a:ext cx="41148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1. Right-Skewed Ratings</a:t>
            </a:r>
            <a:r>
              <a:rPr sz="2000" dirty="0" smtClean="0">
                <a:solidFill>
                  <a:srgbClr val="FF0000"/>
                </a:solidFill>
              </a:rPr>
              <a:t>:</a:t>
            </a:r>
            <a:endParaRPr lang="en-US" sz="2000" dirty="0" smtClean="0">
              <a:solidFill>
                <a:srgbClr val="FF0000"/>
              </a:solidFill>
            </a:endParaRPr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4 </a:t>
            </a:r>
            <a:r>
              <a:rPr dirty="0"/>
              <a:t>and 5-star ratings dominate. Users exhibit systemic positive biases</a:t>
            </a:r>
            <a:r>
              <a:rPr dirty="0" smtClean="0"/>
              <a:t>.</a:t>
            </a:r>
            <a:endParaRPr lang="en-US" dirty="0" smtClean="0"/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2. Extreme </a:t>
            </a:r>
            <a:r>
              <a:rPr sz="2000" dirty="0" smtClean="0">
                <a:solidFill>
                  <a:srgbClr val="FF0000"/>
                </a:solidFill>
              </a:rPr>
              <a:t>Sparsity:</a:t>
            </a:r>
            <a:endParaRPr lang="en-US" sz="200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Only </a:t>
            </a:r>
            <a:r>
              <a:rPr dirty="0"/>
              <a:t>0.075% of matrix is populated. Visualized in user-movie </a:t>
            </a:r>
            <a:r>
              <a:rPr dirty="0" smtClean="0"/>
              <a:t>heatmap.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3. Long Tail: </a:t>
            </a:r>
            <a:endParaRPr lang="en-US" sz="200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10</a:t>
            </a:r>
            <a:r>
              <a:rPr dirty="0"/>
              <a:t>% of movies receive 80% of total ratings. Niche movies have under 100 </a:t>
            </a:r>
            <a:r>
              <a:rPr dirty="0" smtClean="0"/>
              <a:t>reviews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.</a:t>
            </a: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4. Temporal Consistency</a:t>
            </a:r>
            <a:r>
              <a:rPr sz="2000" dirty="0" smtClean="0">
                <a:solidFill>
                  <a:srgbClr val="FF0000"/>
                </a:solidFill>
              </a:rPr>
              <a:t>:</a:t>
            </a:r>
            <a:endParaRPr lang="en-US" sz="200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 smtClean="0"/>
              <a:t>Monthly </a:t>
            </a:r>
            <a:r>
              <a:rPr dirty="0"/>
              <a:t>volume grew exponentially over time, but average ratings stayed stable near ~3.6.</a:t>
            </a:r>
          </a:p>
        </p:txBody>
      </p:sp>
      <p:pic>
        <p:nvPicPr>
          <p:cNvPr id="4" name="Picture 3" descr="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6858000" cy="2377440"/>
          </a:xfrm>
          <a:prstGeom prst="rect">
            <a:avLst/>
          </a:prstGeom>
        </p:spPr>
      </p:pic>
      <p:pic>
        <p:nvPicPr>
          <p:cNvPr id="5" name="Picture 4" descr="temporal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931920"/>
            <a:ext cx="68580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rPr sz="3600"/>
              <a:t>Model Abstraction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30352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SVD (Singular Value Decomposition</a:t>
            </a:r>
            <a:r>
              <a:rPr sz="2000" dirty="0" smtClean="0">
                <a:solidFill>
                  <a:srgbClr val="FF0000"/>
                </a:solidFill>
              </a:rPr>
              <a:t>):</a:t>
            </a:r>
            <a:endParaRPr lang="en-US" sz="2000" dirty="0" smtClean="0">
              <a:solidFill>
                <a:srgbClr val="FF0000"/>
              </a:solidFill>
            </a:endParaRPr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Maps users and movies into d-dimensional latent space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Rating is predicted via dot product of user &amp; item vectors plus biases: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  </a:t>
            </a:r>
            <a:r>
              <a:rPr dirty="0" err="1"/>
              <a:t>r_pred</a:t>
            </a:r>
            <a:r>
              <a:rPr dirty="0"/>
              <a:t> = mu + b_u + b_i + p_u.T * </a:t>
            </a:r>
            <a:r>
              <a:rPr dirty="0" err="1" smtClean="0"/>
              <a:t>q_i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Regularized L2 loss optimized using SGD.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Memory-Based Collaborative Filtering</a:t>
            </a:r>
            <a:r>
              <a:rPr dirty="0" smtClean="0"/>
              <a:t>:</a:t>
            </a: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User-CF: Recommends items liked by similar users.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Item-CF: Recommends items similar to user's favorite history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Similarity computed via Cosine </a:t>
            </a:r>
            <a:r>
              <a:rPr dirty="0" smtClean="0"/>
              <a:t>Similarity </a:t>
            </a:r>
            <a:r>
              <a:rPr dirty="0"/>
              <a:t>on user/movie rating vectors.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48640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Neural Collaborative Filtering (NCF</a:t>
            </a:r>
            <a:r>
              <a:rPr sz="2000" dirty="0" smtClean="0">
                <a:solidFill>
                  <a:srgbClr val="FF0000"/>
                </a:solidFill>
              </a:rPr>
              <a:t>):</a:t>
            </a:r>
            <a:endParaRPr lang="en-US" sz="2000" dirty="0" smtClean="0">
              <a:solidFill>
                <a:srgbClr val="FF0000"/>
              </a:solidFill>
            </a:endParaRPr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Deep learning approach replacing inner product with neural network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Architecture overview: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  1. Input: Sparse User ID and Movie ID.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  2. Embedding Layer: Map inputs to 32-dim dense vectors.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  3. Multi-Layer Perceptron (MLP): Non-linear interactions.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     MLP Layers: 64 -&gt; 32 -&gt; 16.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  4. Prediction Layer: Sigmoid activation scaled to [1, 5] rating output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Advantage: Learns complex non-linear user-movie relationships.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rPr sz="3600" dirty="0"/>
              <a:t>Performance 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0393"/>
            <a:ext cx="4516582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SVD Matrix Factorization emerges as the best overall model with RMSE of </a:t>
            </a:r>
            <a:r>
              <a:rPr sz="19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~0.87</a:t>
            </a:r>
            <a:r>
              <a:rPr sz="1900" dirty="0" smtClean="0"/>
              <a:t>.</a:t>
            </a:r>
            <a:endParaRPr lang="en-US" sz="1900" dirty="0" smtClean="0"/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User-CF and Item-CF models struggle on ranking accuracy (MAP@10) due to severe sparsity</a:t>
            </a:r>
            <a:r>
              <a:rPr sz="1900" dirty="0" smtClean="0"/>
              <a:t>.</a:t>
            </a:r>
            <a:endParaRPr lang="en-US" sz="190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NCF shows high expressiveness, capturing non-linear behavior, but is prone to overfitting and requires more tuning</a:t>
            </a:r>
            <a:r>
              <a:rPr sz="1900" dirty="0" smtClean="0"/>
              <a:t>.</a:t>
            </a:r>
            <a:endParaRPr lang="en-US" sz="190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MAP@10 calculations strictly exclude seen training items, focusing purely on discovery quality.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829431"/>
              </p:ext>
            </p:extLst>
          </p:nvPr>
        </p:nvGraphicFramePr>
        <p:xfrm>
          <a:off x="5098472" y="1410393"/>
          <a:ext cx="6605848" cy="209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2896"/>
                <a:gridCol w="1165738"/>
                <a:gridCol w="1165738"/>
                <a:gridCol w="1165738"/>
                <a:gridCol w="1165738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Model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RMSE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MAE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Precision@10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Recall@10</a:t>
                      </a:r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SVD (Matrix Fact.)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0.8712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0.6854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0.7812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0.0820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User-Based CF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0.9324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0.7289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0.7104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0.0652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Item-Based CF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0.9248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0.7214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0.7198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0.0674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NCF (Neural CF)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0.8950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0.7042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0.7584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0.0768</a:t>
                      </a:r>
                    </a:p>
                  </a:txBody>
                  <a:tcPr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367" y="3768436"/>
            <a:ext cx="6614953" cy="27238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rPr sz="3600" dirty="0"/>
              <a:t>Qualitative</a:t>
            </a:r>
            <a:r>
              <a:rPr dirty="0"/>
              <a:t> Analysis: Success &amp; Failure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865" y="2743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rPr sz="2200" dirty="0" smtClean="0"/>
              <a:t> </a:t>
            </a:r>
            <a:r>
              <a:rPr sz="2200" dirty="0">
                <a:solidFill>
                  <a:srgbClr val="FF0000"/>
                </a:solidFill>
              </a:rPr>
              <a:t>Success Case Analysis (Active Users)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4350" y="1835051"/>
            <a:ext cx="548640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Power users (50+ ratings) receive highly coherent recommendations</a:t>
            </a:r>
            <a:r>
              <a:rPr sz="1900" dirty="0" smtClean="0"/>
              <a:t>.</a:t>
            </a:r>
            <a:endParaRPr lang="en-US" sz="1900" dirty="0" smtClean="0"/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Example User 1488844: History shows heavy preference for epic fantasy and action (e.g., 'Lord of the Rings</a:t>
            </a:r>
            <a:r>
              <a:rPr sz="1900" dirty="0" smtClean="0"/>
              <a:t>').</a:t>
            </a:r>
            <a:endParaRPr lang="en-US" sz="190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Model Recommendations: 'Gladiator' and 'The Matrix</a:t>
            </a:r>
            <a:r>
              <a:rPr sz="1900" dirty="0" smtClean="0"/>
              <a:t>'.</a:t>
            </a:r>
            <a:endParaRPr lang="en-US" sz="190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>
                <a:solidFill>
                  <a:srgbClr val="FF0000"/>
                </a:solidFill>
              </a:rPr>
              <a:t>Diagnosis: </a:t>
            </a:r>
            <a:endParaRPr lang="en-US" sz="190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 smtClean="0"/>
              <a:t>SVD </a:t>
            </a:r>
            <a:r>
              <a:rPr sz="1900" dirty="0"/>
              <a:t>successfully captures the latent dimensions corresponding to cinematic style and genre preference.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486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rPr sz="2200" dirty="0" smtClean="0">
                <a:solidFill>
                  <a:srgbClr val="FF0000"/>
                </a:solidFill>
              </a:rPr>
              <a:t> </a:t>
            </a:r>
            <a:r>
              <a:rPr sz="2200" dirty="0">
                <a:solidFill>
                  <a:srgbClr val="FF0000"/>
                </a:solidFill>
              </a:rPr>
              <a:t>Failure Case Analysis &amp;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71603"/>
            <a:ext cx="548640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New Users (&lt;5 ratings) suffer from Cold Start issues. The model defaults to popular items</a:t>
            </a:r>
            <a:r>
              <a:rPr sz="1900" dirty="0" smtClean="0"/>
              <a:t>.</a:t>
            </a:r>
            <a:endParaRPr lang="en-US" sz="1900" dirty="0" smtClean="0"/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Users with highly niche preferences (e.g. obscure documentaries) receive generic blockbuster suggestions</a:t>
            </a:r>
            <a:r>
              <a:rPr sz="1900" dirty="0" smtClean="0"/>
              <a:t>.</a:t>
            </a:r>
            <a:endParaRPr lang="en-US" sz="190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/>
              <a:t>Diagnosed Popularity Bias: Blockbusters are recommended 5x more frequently than long-tail films</a:t>
            </a:r>
            <a:r>
              <a:rPr sz="1900" dirty="0" smtClean="0"/>
              <a:t>.</a:t>
            </a:r>
            <a:endParaRPr lang="en-US" sz="190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90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>
                <a:solidFill>
                  <a:srgbClr val="FF0000"/>
                </a:solidFill>
              </a:rPr>
              <a:t>Remedy: </a:t>
            </a:r>
            <a:endParaRPr lang="en-US" sz="190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900" dirty="0" smtClean="0"/>
              <a:t>Blend </a:t>
            </a:r>
            <a:r>
              <a:rPr sz="1900" dirty="0"/>
              <a:t>collaborative signals with content </a:t>
            </a:r>
            <a:r>
              <a:rPr sz="1900" dirty="0" err="1"/>
              <a:t>embeddings</a:t>
            </a:r>
            <a:r>
              <a:rPr sz="1900" dirty="0"/>
              <a:t> or implement popularity penalties.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rPr sz="3600" dirty="0"/>
              <a:t>Innovation &amp; Engineering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4670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1750" dirty="0" smtClean="0">
                <a:solidFill>
                  <a:srgbClr val="FF0000"/>
                </a:solidFill>
              </a:rPr>
              <a:t>Neural </a:t>
            </a:r>
            <a:r>
              <a:rPr sz="1750" dirty="0">
                <a:solidFill>
                  <a:srgbClr val="FF0000"/>
                </a:solidFill>
              </a:rPr>
              <a:t>Collaborative Filtering (</a:t>
            </a:r>
            <a:r>
              <a:rPr sz="1750" dirty="0" err="1">
                <a:solidFill>
                  <a:srgbClr val="FF0000"/>
                </a:solidFill>
              </a:rPr>
              <a:t>PyTorch</a:t>
            </a:r>
            <a:r>
              <a:rPr sz="1750" dirty="0">
                <a:solidFill>
                  <a:srgbClr val="FF0000"/>
                </a:solidFill>
              </a:rPr>
              <a:t> NCF): </a:t>
            </a:r>
            <a:endParaRPr lang="en-US" sz="1750" dirty="0" smtClean="0">
              <a:solidFill>
                <a:srgbClr val="FF0000"/>
              </a:solidFill>
            </a:endParaRPr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1750" dirty="0" smtClean="0"/>
              <a:t>Replaced </a:t>
            </a:r>
            <a:r>
              <a:rPr sz="1750" dirty="0"/>
              <a:t>standard dot products with multi-layer dense networks to capture complex user-movie non-</a:t>
            </a:r>
            <a:r>
              <a:rPr sz="1750" dirty="0" err="1"/>
              <a:t>linearities</a:t>
            </a:r>
            <a:r>
              <a:rPr sz="1750" dirty="0"/>
              <a:t>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lang="en-US" sz="175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>
                <a:solidFill>
                  <a:srgbClr val="FF0000"/>
                </a:solidFill>
              </a:rPr>
              <a:t>Explainable </a:t>
            </a:r>
            <a:r>
              <a:rPr sz="1750" dirty="0">
                <a:solidFill>
                  <a:srgbClr val="FF0000"/>
                </a:solidFill>
              </a:rPr>
              <a:t>Recommendations: </a:t>
            </a:r>
            <a:endParaRPr lang="en-US" sz="175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/>
              <a:t>Designed </a:t>
            </a:r>
            <a:r>
              <a:rPr sz="1750" dirty="0"/>
              <a:t>custom similarity logic mapping recommended movies back to the user's high-rated history, providing clean reasons for recommendations (e.g., 'Recommended because you liked X</a:t>
            </a:r>
            <a:r>
              <a:rPr sz="1750" dirty="0" smtClean="0"/>
              <a:t>').</a:t>
            </a:r>
            <a:endParaRPr lang="en-US" sz="175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sz="175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>
                <a:solidFill>
                  <a:srgbClr val="FF0000"/>
                </a:solidFill>
              </a:rPr>
              <a:t>Premium </a:t>
            </a:r>
            <a:r>
              <a:rPr sz="1750" dirty="0">
                <a:solidFill>
                  <a:srgbClr val="FF0000"/>
                </a:solidFill>
              </a:rPr>
              <a:t>Dark-Mode </a:t>
            </a:r>
            <a:r>
              <a:rPr sz="1750" dirty="0" err="1">
                <a:solidFill>
                  <a:srgbClr val="FF0000"/>
                </a:solidFill>
              </a:rPr>
              <a:t>Streamlit</a:t>
            </a:r>
            <a:r>
              <a:rPr sz="1750" dirty="0">
                <a:solidFill>
                  <a:srgbClr val="FF0000"/>
                </a:solidFill>
              </a:rPr>
              <a:t> Dashboard: </a:t>
            </a:r>
            <a:endParaRPr lang="en-US" sz="175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/>
              <a:t>Created </a:t>
            </a:r>
            <a:r>
              <a:rPr sz="1750" dirty="0"/>
              <a:t>a complete, interactive, cached, dark-mode user interface replicating Netflix's interface style. Features recommendation testing, a movie explorer, and performance plots.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lang="en-US" sz="1750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>
                <a:solidFill>
                  <a:srgbClr val="FF0000"/>
                </a:solidFill>
              </a:rPr>
              <a:t>Evaluation </a:t>
            </a:r>
            <a:r>
              <a:rPr sz="1750" dirty="0">
                <a:solidFill>
                  <a:srgbClr val="FF0000"/>
                </a:solidFill>
              </a:rPr>
              <a:t>Optimization: </a:t>
            </a:r>
            <a:endParaRPr lang="en-US" sz="175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/>
              <a:t>Implemented </a:t>
            </a:r>
            <a:r>
              <a:rPr sz="1750" dirty="0"/>
              <a:t>custom batch predictors for NCF, speeding up calculation of ranking-based metrics like MAP@10 by 20x.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lang="en-US" sz="1750"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>
                <a:solidFill>
                  <a:srgbClr val="FF0000"/>
                </a:solidFill>
              </a:rPr>
              <a:t>Safe </a:t>
            </a:r>
            <a:r>
              <a:rPr sz="1750" dirty="0">
                <a:solidFill>
                  <a:srgbClr val="FF0000"/>
                </a:solidFill>
              </a:rPr>
              <a:t>CF Training: </a:t>
            </a:r>
            <a:endParaRPr lang="en-US" sz="1750" dirty="0" smtClean="0">
              <a:solidFill>
                <a:srgbClr val="FF0000"/>
              </a:solidFill>
            </a:endParaRP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sz="1750" dirty="0" smtClean="0"/>
              <a:t>Leveraged </a:t>
            </a:r>
            <a:r>
              <a:rPr sz="1750" dirty="0"/>
              <a:t>sampling strategies to train memory-based models without running out of 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50914"/>
                </a:solidFill>
                <a:latin typeface="Arial"/>
              </a:defRPr>
            </a:pPr>
            <a:r>
              <a:t>Conclusion &amp; Future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r>
              <a:rPr sz="2000" dirty="0">
                <a:solidFill>
                  <a:srgbClr val="FF0000"/>
                </a:solidFill>
              </a:rPr>
              <a:t>Key Accomplishments</a:t>
            </a:r>
            <a:r>
              <a:rPr sz="2000" dirty="0" smtClean="0">
                <a:solidFill>
                  <a:srgbClr val="FF0000"/>
                </a:solidFill>
              </a:rPr>
              <a:t>:</a:t>
            </a:r>
            <a:endParaRPr lang="en-US" sz="2000" dirty="0" smtClean="0">
              <a:solidFill>
                <a:srgbClr val="FF0000"/>
              </a:solidFill>
            </a:endParaRPr>
          </a:p>
          <a:p>
            <a:pPr algn="l">
              <a:defRPr sz="1600" b="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Built a complete, production-ready, modular recommendation framework running end-to-end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Evaluated SVD, Collaborative Filtering, and Neural architectures on identical data configurations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SVD achieves the best balance of ranking accuracy (MAP@10) and computational efficiency.</a:t>
            </a:r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Recommended Next Steps for Production</a:t>
            </a:r>
            <a:r>
              <a:rPr dirty="0" smtClean="0"/>
              <a:t>: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Hybrid Recommendations: Combine SVD </a:t>
            </a:r>
            <a:r>
              <a:rPr dirty="0" err="1"/>
              <a:t>embeddings</a:t>
            </a:r>
            <a:r>
              <a:rPr dirty="0"/>
              <a:t> with content-based features (e.g. genre/keywords</a:t>
            </a:r>
            <a:r>
              <a:rPr dirty="0" smtClean="0"/>
              <a:t>).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Temporal Biases: Integrate temporal decaying features (give more weight to recent user tastes</a:t>
            </a:r>
            <a:r>
              <a:rPr dirty="0" smtClean="0"/>
              <a:t>).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Sequence-Based recommendations: Implement RNNs/Transformers (e.g., GRU4Rec) to capture session-based transitions</a:t>
            </a:r>
            <a:r>
              <a:rPr dirty="0" smtClean="0"/>
              <a:t>.</a:t>
            </a:r>
            <a:endParaRPr lang="en-US" dirty="0" smtClean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endParaRPr dirty="0"/>
          </a:p>
          <a:p>
            <a:pPr>
              <a:defRPr sz="1600">
                <a:solidFill>
                  <a:srgbClr val="F0F0F0"/>
                </a:solidFill>
                <a:latin typeface="Arial"/>
              </a:defRPr>
            </a:pPr>
            <a:r>
              <a:rPr dirty="0"/>
              <a:t>  - Reinforcement Learning (Bandits): Use contextual bandits to continuously trade-off exploration </a:t>
            </a:r>
            <a:r>
              <a:rPr dirty="0" err="1"/>
              <a:t>vs</a:t>
            </a:r>
            <a:r>
              <a:rPr dirty="0"/>
              <a:t> exploitation.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924</Words>
  <Application>Microsoft Office PowerPoint</Application>
  <PresentationFormat>Widescreen</PresentationFormat>
  <Paragraphs>170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hp</dc:creator>
  <cp:keywords/>
  <dc:description>generated using python-pptx</dc:description>
  <cp:lastModifiedBy>TAMANNA</cp:lastModifiedBy>
  <cp:revision>6</cp:revision>
  <dcterms:created xsi:type="dcterms:W3CDTF">2013-01-27T09:14:16Z</dcterms:created>
  <dcterms:modified xsi:type="dcterms:W3CDTF">2026-06-12T11:12:39Z</dcterms:modified>
  <cp:category/>
</cp:coreProperties>
</file>