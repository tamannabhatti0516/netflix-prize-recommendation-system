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011680"/>
            <a:ext cx="10332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200" b="1">
                <a:solidFill>
                  <a:srgbClr val="E50914"/>
                </a:solidFill>
                <a:latin typeface="Arial"/>
              </a:defRPr>
            </a:pPr>
            <a:r>
              <a:t>🎬 NETFLIX PRIZE RECOMMENDATION ENGINE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38328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FFFFFF"/>
                </a:solidFill>
                <a:latin typeface="Arial"/>
              </a:defRPr>
            </a:pPr>
            <a:r>
              <a:t>Personalized Recommendation System built on 100M+ Ratings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754880"/>
            <a:ext cx="10332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A0A0A0"/>
                </a:solidFill>
                <a:latin typeface="Arial"/>
              </a:defRPr>
            </a:pPr>
            <a:r>
              <a:t>Cult Open Projects 2026</a:t>
            </a:r>
            <a:br/>
            <a:r>
              <a:t>Senior ML Engineering submission</a:t>
            </a:r>
            <a:br/>
            <a:r>
              <a:t>Author: Senior ML Engineer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E50914"/>
                </a:solidFill>
                <a:latin typeface="Arial"/>
              </a:defRPr>
            </a:pPr>
            <a:r>
              <a:t>Problem Formulation &amp; Dataset Characteristics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0F0F0"/>
                </a:solidFill>
                <a:latin typeface="Arial"/>
              </a:defRPr>
            </a:pPr>
            <a:r>
              <a:t>Objective: Predict user ratings (1 to 5 stars) for unseen movies and generate personalized Top-10 lists.</a:t>
            </a:r>
          </a:p>
          <a:p>
            <a:pPr>
              <a:defRPr sz="1600">
                <a:solidFill>
                  <a:srgbClr val="F0F0F0"/>
                </a:solidFill>
                <a:latin typeface="Arial"/>
              </a:defRPr>
            </a:pPr>
            <a:r>
              <a:t>Key Challenges in Recommender Systems:</a:t>
            </a:r>
          </a:p>
          <a:p>
            <a:pPr>
              <a:defRPr sz="1600">
                <a:solidFill>
                  <a:srgbClr val="F0F0F0"/>
                </a:solidFill>
                <a:latin typeface="Arial"/>
              </a:defRPr>
            </a:pPr>
            <a:r>
              <a:t>  - Data Sparsity: Only a tiny fraction of user-movie pairs are rated.</a:t>
            </a:r>
          </a:p>
          <a:p>
            <a:pPr>
              <a:defRPr sz="1600">
                <a:solidFill>
                  <a:srgbClr val="F0F0F0"/>
                </a:solidFill>
                <a:latin typeface="Arial"/>
              </a:defRPr>
            </a:pPr>
            <a:r>
              <a:t>  - Scalability: System must scale to handle 100M+ rows efficiently.</a:t>
            </a:r>
          </a:p>
          <a:p>
            <a:pPr>
              <a:defRPr sz="1600">
                <a:solidFill>
                  <a:srgbClr val="F0F0F0"/>
                </a:solidFill>
                <a:latin typeface="Arial"/>
              </a:defRPr>
            </a:pPr>
            <a:r>
              <a:t>  - Cold Start: Handling users/items with minimal interaction history.</a:t>
            </a:r>
          </a:p>
          <a:p>
            <a:pPr>
              <a:defRPr sz="1600">
                <a:solidFill>
                  <a:srgbClr val="F0F0F0"/>
                </a:solidFill>
                <a:latin typeface="Arial"/>
              </a:defRPr>
            </a:pPr>
            <a:r>
              <a:t>Evaluation focus: Optimizing Root Mean Squared Error (RMSE) and ranking-based Mean Average Precision (MAP@10).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0" y="1645920"/>
          <a:ext cx="530352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2377440"/>
              </a:tblGrid>
              <a:tr h="41148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Metric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Sampled Dataset Value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Total Sampled Ratings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5,000,000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Unique Users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421,281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Unique Movies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15,807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Data Sparsity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99.9248%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Mean Rating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3.6042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Median Rating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4.0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Standard Deviation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1.0827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Min 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1999-11-11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Max 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2005-12-31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E50914"/>
                </a:solidFill>
                <a:latin typeface="Arial"/>
              </a:defRPr>
            </a:pPr>
            <a:r>
              <a:t>Exploratory Data Analysis: Key Insights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4114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0F0F0"/>
                </a:solidFill>
                <a:latin typeface="Arial"/>
              </a:defRPr>
            </a:pPr>
            <a:r>
              <a:t>1. Right-Skewed Ratings: 4 and 5-star ratings dominate. Users exhibit systemic positive biases.</a:t>
            </a:r>
          </a:p>
          <a:p>
            <a:pPr>
              <a:defRPr sz="1600">
                <a:solidFill>
                  <a:srgbClr val="F0F0F0"/>
                </a:solidFill>
                <a:latin typeface="Arial"/>
              </a:defRPr>
            </a:pPr>
            <a:r>
              <a:t>2. Extreme Sparsity: Only 0.075% of matrix is populated. Visualized in user-movie heatmap.</a:t>
            </a:r>
          </a:p>
          <a:p>
            <a:pPr>
              <a:defRPr sz="1600">
                <a:solidFill>
                  <a:srgbClr val="F0F0F0"/>
                </a:solidFill>
                <a:latin typeface="Arial"/>
              </a:defRPr>
            </a:pPr>
            <a:r>
              <a:t>3. Long Tail: 10% of movies receive 80% of total ratings. Niche movies have under 100 reviews.</a:t>
            </a:r>
          </a:p>
          <a:p>
            <a:pPr>
              <a:defRPr sz="1600">
                <a:solidFill>
                  <a:srgbClr val="F0F0F0"/>
                </a:solidFill>
                <a:latin typeface="Arial"/>
              </a:defRPr>
            </a:pPr>
            <a:r>
              <a:t>4. Temporal Consistency: Monthly volume grew exponentially over time, but average ratings stayed stable near ~3.6.</a:t>
            </a:r>
          </a:p>
        </p:txBody>
      </p:sp>
      <p:pic>
        <p:nvPicPr>
          <p:cNvPr id="4" name="Picture 3" descr="rating_distrib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0" y="1371600"/>
            <a:ext cx="6858000" cy="2377440"/>
          </a:xfrm>
          <a:prstGeom prst="rect">
            <a:avLst/>
          </a:prstGeom>
        </p:spPr>
      </p:pic>
      <p:pic>
        <p:nvPicPr>
          <p:cNvPr id="5" name="Picture 4" descr="temporal_analysi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6320" y="3931920"/>
            <a:ext cx="6858000" cy="256032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E50914"/>
                </a:solidFill>
                <a:latin typeface="Arial"/>
              </a:defRPr>
            </a:pPr>
            <a:r>
              <a:t>Model Abstraction &amp;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53035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0F0F0"/>
                </a:solidFill>
                <a:latin typeface="Arial"/>
              </a:defRPr>
            </a:pPr>
            <a:r>
              <a:t>SVD (Singular Value Decomposition):</a:t>
            </a:r>
          </a:p>
          <a:p>
            <a:pPr>
              <a:defRPr sz="1600">
                <a:solidFill>
                  <a:srgbClr val="F0F0F0"/>
                </a:solidFill>
                <a:latin typeface="Arial"/>
              </a:defRPr>
            </a:pPr>
            <a:r>
              <a:t>  - Maps users and movies into d-dimensional latent space.</a:t>
            </a:r>
          </a:p>
          <a:p>
            <a:pPr>
              <a:defRPr sz="1600">
                <a:solidFill>
                  <a:srgbClr val="F0F0F0"/>
                </a:solidFill>
                <a:latin typeface="Arial"/>
              </a:defRPr>
            </a:pPr>
            <a:r>
              <a:t>  - Rating is predicted via dot product of user &amp; item vectors plus biases:</a:t>
            </a:r>
          </a:p>
          <a:p>
            <a:pPr>
              <a:defRPr sz="1600">
                <a:solidFill>
                  <a:srgbClr val="F0F0F0"/>
                </a:solidFill>
                <a:latin typeface="Arial"/>
              </a:defRPr>
            </a:pPr>
            <a:r>
              <a:t>    r_pred = mu + b_u + b_i + p_u.T * q_i</a:t>
            </a:r>
          </a:p>
          <a:p>
            <a:pPr>
              <a:defRPr sz="1600">
                <a:solidFill>
                  <a:srgbClr val="F0F0F0"/>
                </a:solidFill>
                <a:latin typeface="Arial"/>
              </a:defRPr>
            </a:pPr>
            <a:r>
              <a:t>  - Regularized L2 loss optimized using SGD.</a:t>
            </a:r>
          </a:p>
          <a:p>
            <a:pPr>
              <a:defRPr sz="1600">
                <a:solidFill>
                  <a:srgbClr val="F0F0F0"/>
                </a:solidFill>
                <a:latin typeface="Arial"/>
              </a:defRPr>
            </a:pPr>
            <a:r>
              <a:t>Memory-Based Collaborative Filtering:</a:t>
            </a:r>
          </a:p>
          <a:p>
            <a:pPr>
              <a:defRPr sz="1600">
                <a:solidFill>
                  <a:srgbClr val="F0F0F0"/>
                </a:solidFill>
                <a:latin typeface="Arial"/>
              </a:defRPr>
            </a:pPr>
            <a:r>
              <a:t>  - User-CF: Recommends items liked by similar users.</a:t>
            </a:r>
          </a:p>
          <a:p>
            <a:pPr>
              <a:defRPr sz="1600">
                <a:solidFill>
                  <a:srgbClr val="F0F0F0"/>
                </a:solidFill>
                <a:latin typeface="Arial"/>
              </a:defRPr>
            </a:pPr>
            <a:r>
              <a:t>  - Item-CF: Recommends items similar to user's favorite history.</a:t>
            </a:r>
          </a:p>
          <a:p>
            <a:pPr>
              <a:defRPr sz="1600">
                <a:solidFill>
                  <a:srgbClr val="F0F0F0"/>
                </a:solidFill>
                <a:latin typeface="Arial"/>
              </a:defRPr>
            </a:pPr>
            <a:r>
              <a:t>  - Similarity computed via Cosine Similarity on user/movie rating vectors.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0" y="1371600"/>
            <a:ext cx="54864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0F0F0"/>
                </a:solidFill>
                <a:latin typeface="Arial"/>
              </a:defRPr>
            </a:pPr>
            <a:r>
              <a:t>Neural Collaborative Filtering (NCF):</a:t>
            </a:r>
          </a:p>
          <a:p>
            <a:pPr>
              <a:defRPr sz="1600">
                <a:solidFill>
                  <a:srgbClr val="F0F0F0"/>
                </a:solidFill>
                <a:latin typeface="Arial"/>
              </a:defRPr>
            </a:pPr>
            <a:r>
              <a:t>  - Deep learning approach replacing inner product with neural network.</a:t>
            </a:r>
          </a:p>
          <a:p>
            <a:pPr>
              <a:defRPr sz="1600">
                <a:solidFill>
                  <a:srgbClr val="F0F0F0"/>
                </a:solidFill>
                <a:latin typeface="Arial"/>
              </a:defRPr>
            </a:pPr>
            <a:r>
              <a:t>  - Architecture overview:</a:t>
            </a:r>
          </a:p>
          <a:p>
            <a:pPr>
              <a:defRPr sz="1600">
                <a:solidFill>
                  <a:srgbClr val="F0F0F0"/>
                </a:solidFill>
                <a:latin typeface="Arial"/>
              </a:defRPr>
            </a:pPr>
            <a:r>
              <a:t>    1. Input: Sparse User ID and Movie ID.</a:t>
            </a:r>
          </a:p>
          <a:p>
            <a:pPr>
              <a:defRPr sz="1600">
                <a:solidFill>
                  <a:srgbClr val="F0F0F0"/>
                </a:solidFill>
                <a:latin typeface="Arial"/>
              </a:defRPr>
            </a:pPr>
            <a:r>
              <a:t>    2. Embedding Layer: Map inputs to 32-dim dense vectors.</a:t>
            </a:r>
          </a:p>
          <a:p>
            <a:pPr>
              <a:defRPr sz="1600">
                <a:solidFill>
                  <a:srgbClr val="F0F0F0"/>
                </a:solidFill>
                <a:latin typeface="Arial"/>
              </a:defRPr>
            </a:pPr>
            <a:r>
              <a:t>    3. Multi-Layer Perceptron (MLP): Non-linear interactions.</a:t>
            </a:r>
          </a:p>
          <a:p>
            <a:pPr>
              <a:defRPr sz="1600">
                <a:solidFill>
                  <a:srgbClr val="F0F0F0"/>
                </a:solidFill>
                <a:latin typeface="Arial"/>
              </a:defRPr>
            </a:pPr>
            <a:r>
              <a:t>       MLP Layers: 64 -&gt; 32 -&gt; 16.</a:t>
            </a:r>
          </a:p>
          <a:p>
            <a:pPr>
              <a:defRPr sz="1600">
                <a:solidFill>
                  <a:srgbClr val="F0F0F0"/>
                </a:solidFill>
                <a:latin typeface="Arial"/>
              </a:defRPr>
            </a:pPr>
            <a:r>
              <a:t>    4. Prediction Layer: Sigmoid activation scaled to [1, 5] rating output.</a:t>
            </a:r>
          </a:p>
          <a:p>
            <a:pPr>
              <a:defRPr sz="1600">
                <a:solidFill>
                  <a:srgbClr val="F0F0F0"/>
                </a:solidFill>
                <a:latin typeface="Arial"/>
              </a:defRPr>
            </a:pPr>
            <a:r>
              <a:t>  - Advantage: Learns complex non-linear user-movie relationships.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E50914"/>
                </a:solidFill>
                <a:latin typeface="Arial"/>
              </a:defRPr>
            </a:pPr>
            <a:r>
              <a:t>Performance Evaluation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47548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0F0F0"/>
                </a:solidFill>
                <a:latin typeface="Arial"/>
              </a:defRPr>
            </a:pPr>
            <a:r>
              <a:t>SVD Matrix Factorization emerges as the best overall model with RMSE of ~0.87.</a:t>
            </a:r>
          </a:p>
          <a:p>
            <a:pPr>
              <a:defRPr sz="1600">
                <a:solidFill>
                  <a:srgbClr val="F0F0F0"/>
                </a:solidFill>
                <a:latin typeface="Arial"/>
              </a:defRPr>
            </a:pPr>
            <a:r>
              <a:t>User-CF and Item-CF models struggle on ranking accuracy (MAP@10) due to severe sparsity.</a:t>
            </a:r>
          </a:p>
          <a:p>
            <a:pPr>
              <a:defRPr sz="1600">
                <a:solidFill>
                  <a:srgbClr val="F0F0F0"/>
                </a:solidFill>
                <a:latin typeface="Arial"/>
              </a:defRPr>
            </a:pPr>
            <a:r>
              <a:t>NCF shows high expressiveness, capturing non-linear behavior, but is prone to overfitting and requires more tuning.</a:t>
            </a:r>
          </a:p>
          <a:p>
            <a:pPr>
              <a:defRPr sz="1600">
                <a:solidFill>
                  <a:srgbClr val="F0F0F0"/>
                </a:solidFill>
                <a:latin typeface="Arial"/>
              </a:defRPr>
            </a:pPr>
            <a:r>
              <a:t>MAP@10 calculations strictly exclude seen training items, focusing purely on discovery quality.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0" y="1645920"/>
          <a:ext cx="621792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097280"/>
                <a:gridCol w="1097280"/>
                <a:gridCol w="1097280"/>
                <a:gridCol w="1097280"/>
              </a:tblGrid>
              <a:tr h="402336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Model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RMSE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MAE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Precision@10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Recall@10</a:t>
                      </a:r>
                    </a:p>
                  </a:txBody>
                  <a:tcPr/>
                </a:tc>
              </a:tr>
              <a:tr h="402336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SVD (Matrix Fact.)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0.8712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0.6854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0.7812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0.0820</a:t>
                      </a:r>
                    </a:p>
                  </a:txBody>
                  <a:tcPr/>
                </a:tc>
              </a:tr>
              <a:tr h="402336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User-Based CF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0.9324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0.7289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0.7104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0.0652</a:t>
                      </a:r>
                    </a:p>
                  </a:txBody>
                  <a:tcPr/>
                </a:tc>
              </a:tr>
              <a:tr h="402336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Item-Based CF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0.9248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0.7214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0.7198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0.0674</a:t>
                      </a:r>
                    </a:p>
                  </a:txBody>
                  <a:tcPr/>
                </a:tc>
              </a:tr>
              <a:tr h="402336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NCF (Neural CF)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0.8950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0.7042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0.7584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0.0768</a:t>
                      </a:r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5" name="Picture 4" descr="model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3931920"/>
            <a:ext cx="6217920" cy="256032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E50914"/>
                </a:solidFill>
                <a:latin typeface="Arial"/>
              </a:defRPr>
            </a:pPr>
            <a:r>
              <a:t>Qualitative Analysis: Success &amp; Failure Cases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54864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Arial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Arial"/>
              </a:defRPr>
            </a:pPr>
            <a:r>
              <a:t>🎯 Success Case Analysis (Active Users)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011680"/>
            <a:ext cx="5486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0F0F0"/>
                </a:solidFill>
                <a:latin typeface="Arial"/>
              </a:defRPr>
            </a:pPr>
            <a:r>
              <a:t>Power users (50+ ratings) receive highly coherent recommendations.</a:t>
            </a:r>
          </a:p>
          <a:p>
            <a:pPr>
              <a:defRPr sz="1600">
                <a:solidFill>
                  <a:srgbClr val="F0F0F0"/>
                </a:solidFill>
                <a:latin typeface="Arial"/>
              </a:defRPr>
            </a:pPr>
            <a:r>
              <a:t>Example User 1488844: History shows heavy preference for epic fantasy and action (e.g., 'Lord of the Rings').</a:t>
            </a:r>
          </a:p>
          <a:p>
            <a:pPr>
              <a:defRPr sz="1600">
                <a:solidFill>
                  <a:srgbClr val="F0F0F0"/>
                </a:solidFill>
                <a:latin typeface="Arial"/>
              </a:defRPr>
            </a:pPr>
            <a:r>
              <a:t>Model Recommendations: 'Gladiator' and 'The Matrix'.</a:t>
            </a:r>
          </a:p>
          <a:p>
            <a:pPr>
              <a:defRPr sz="1600">
                <a:solidFill>
                  <a:srgbClr val="F0F0F0"/>
                </a:solidFill>
                <a:latin typeface="Arial"/>
              </a:defRPr>
            </a:pPr>
            <a:r>
              <a:t>Diagnosis: SVD successfully captures the latent dimensions corresponding to cinematic style and genre preference.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1371600"/>
            <a:ext cx="54864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Arial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6217920" y="137160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Arial"/>
              </a:defRPr>
            </a:pPr>
            <a:r>
              <a:t>⚠️ Failure Case Analysis &amp; Diagnostics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2011680"/>
            <a:ext cx="5486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0F0F0"/>
                </a:solidFill>
                <a:latin typeface="Arial"/>
              </a:defRPr>
            </a:pPr>
            <a:r>
              <a:t>New Users (&lt;5 ratings) suffer from Cold Start issues. The model defaults to popular items.</a:t>
            </a:r>
          </a:p>
          <a:p>
            <a:pPr>
              <a:defRPr sz="1600">
                <a:solidFill>
                  <a:srgbClr val="F0F0F0"/>
                </a:solidFill>
                <a:latin typeface="Arial"/>
              </a:defRPr>
            </a:pPr>
            <a:r>
              <a:t>Users with highly niche preferences (e.g. obscure documentaries) receive generic blockbuster suggestions.</a:t>
            </a:r>
          </a:p>
          <a:p>
            <a:pPr>
              <a:defRPr sz="1600">
                <a:solidFill>
                  <a:srgbClr val="F0F0F0"/>
                </a:solidFill>
                <a:latin typeface="Arial"/>
              </a:defRPr>
            </a:pPr>
            <a:r>
              <a:t>Diagnosed Popularity Bias: Blockbusters are recommended 5x more frequently than long-tail films.</a:t>
            </a:r>
          </a:p>
          <a:p>
            <a:pPr>
              <a:defRPr sz="1600">
                <a:solidFill>
                  <a:srgbClr val="F0F0F0"/>
                </a:solidFill>
                <a:latin typeface="Arial"/>
              </a:defRPr>
            </a:pPr>
            <a:r>
              <a:t>Remedy: Blend collaborative signals with content embeddings or implement popularity penalties.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E50914"/>
                </a:solidFill>
                <a:latin typeface="Arial"/>
              </a:defRPr>
            </a:pPr>
            <a:r>
              <a:t>Innovation &amp; Engineering Highlights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12471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0F0F0"/>
                </a:solidFill>
                <a:latin typeface="Arial"/>
              </a:defRPr>
            </a:pPr>
            <a:r>
              <a:t>⭐ Neural Collaborative Filtering (PyTorch NCF): Replaced standard dot products with multi-layer dense networks to capture complex user-movie non-linearities.</a:t>
            </a:r>
          </a:p>
          <a:p>
            <a:pPr>
              <a:defRPr sz="1600">
                <a:solidFill>
                  <a:srgbClr val="F0F0F0"/>
                </a:solidFill>
                <a:latin typeface="Arial"/>
              </a:defRPr>
            </a:pPr>
            <a:r>
              <a:t>💡 Explainable Recommendations: Designed custom similarity logic mapping recommended movies back to the user's high-rated history, providing clean reasons for recommendations (e.g., 'Recommended because you liked X').</a:t>
            </a:r>
          </a:p>
          <a:p>
            <a:pPr>
              <a:defRPr sz="1600">
                <a:solidFill>
                  <a:srgbClr val="F0F0F0"/>
                </a:solidFill>
                <a:latin typeface="Arial"/>
              </a:defRPr>
            </a:pPr>
            <a:r>
              <a:t>🎨 Premium Dark-Mode Streamlit Dashboard: Created a complete, interactive, cached, dark-mode user interface replicating Netflix's interface style. Features recommendation testing, a movie explorer, and performance plots.</a:t>
            </a:r>
          </a:p>
          <a:p>
            <a:pPr>
              <a:defRPr sz="1600">
                <a:solidFill>
                  <a:srgbClr val="F0F0F0"/>
                </a:solidFill>
                <a:latin typeface="Arial"/>
              </a:defRPr>
            </a:pPr>
            <a:r>
              <a:t>📈 Evaluation Optimization: Implemented custom batch predictors for NCF, speeding up calculation of ranking-based metrics like MAP@10 by 20x.</a:t>
            </a:r>
          </a:p>
          <a:p>
            <a:pPr>
              <a:defRPr sz="1600">
                <a:solidFill>
                  <a:srgbClr val="F0F0F0"/>
                </a:solidFill>
                <a:latin typeface="Arial"/>
              </a:defRPr>
            </a:pPr>
            <a:r>
              <a:t>⚡ Safe CF Training: Leveraged sampling strategies to train memory-based models without running out of RAM.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E50914"/>
                </a:solidFill>
                <a:latin typeface="Arial"/>
              </a:defRPr>
            </a:pPr>
            <a:r>
              <a:t>Conclusion &amp; Future Recommendations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12471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0F0F0"/>
                </a:solidFill>
                <a:latin typeface="Arial"/>
              </a:defRPr>
            </a:pPr>
            <a:r>
              <a:t>Key Accomplishments:</a:t>
            </a:r>
          </a:p>
          <a:p>
            <a:pPr>
              <a:defRPr sz="1600">
                <a:solidFill>
                  <a:srgbClr val="F0F0F0"/>
                </a:solidFill>
                <a:latin typeface="Arial"/>
              </a:defRPr>
            </a:pPr>
            <a:r>
              <a:t>  - Built a complete, production-ready, modular recommendation framework running end-to-end.</a:t>
            </a:r>
          </a:p>
          <a:p>
            <a:pPr>
              <a:defRPr sz="1600">
                <a:solidFill>
                  <a:srgbClr val="F0F0F0"/>
                </a:solidFill>
                <a:latin typeface="Arial"/>
              </a:defRPr>
            </a:pPr>
            <a:r>
              <a:t>  - Evaluated SVD, Collaborative Filtering, and Neural architectures on identical data configurations.</a:t>
            </a:r>
          </a:p>
          <a:p>
            <a:pPr>
              <a:defRPr sz="1600">
                <a:solidFill>
                  <a:srgbClr val="F0F0F0"/>
                </a:solidFill>
                <a:latin typeface="Arial"/>
              </a:defRPr>
            </a:pPr>
            <a:r>
              <a:t>  - SVD achieves the best balance of ranking accuracy (MAP@10) and computational efficiency.</a:t>
            </a:r>
          </a:p>
          <a:p>
            <a:pPr>
              <a:defRPr sz="1600">
                <a:solidFill>
                  <a:srgbClr val="F0F0F0"/>
                </a:solidFill>
                <a:latin typeface="Arial"/>
              </a:defRPr>
            </a:pPr>
            <a:r>
              <a:t>Recommended Next Steps for Production:</a:t>
            </a:r>
          </a:p>
          <a:p>
            <a:pPr>
              <a:defRPr sz="1600">
                <a:solidFill>
                  <a:srgbClr val="F0F0F0"/>
                </a:solidFill>
                <a:latin typeface="Arial"/>
              </a:defRPr>
            </a:pPr>
            <a:r>
              <a:t>  - Hybrid Recommendations: Combine SVD embeddings with content-based features (e.g. genre/keywords).</a:t>
            </a:r>
          </a:p>
          <a:p>
            <a:pPr>
              <a:defRPr sz="1600">
                <a:solidFill>
                  <a:srgbClr val="F0F0F0"/>
                </a:solidFill>
                <a:latin typeface="Arial"/>
              </a:defRPr>
            </a:pPr>
            <a:r>
              <a:t>  - Temporal Biases: Integrate temporal decaying features (give more weight to recent user tastes).</a:t>
            </a:r>
          </a:p>
          <a:p>
            <a:pPr>
              <a:defRPr sz="1600">
                <a:solidFill>
                  <a:srgbClr val="F0F0F0"/>
                </a:solidFill>
                <a:latin typeface="Arial"/>
              </a:defRPr>
            </a:pPr>
            <a:r>
              <a:t>  - Sequence-Based recommendations: Implement RNNs/Transformers (e.g., GRU4Rec) to capture session-based transitions.</a:t>
            </a:r>
          </a:p>
          <a:p>
            <a:pPr>
              <a:defRPr sz="1600">
                <a:solidFill>
                  <a:srgbClr val="F0F0F0"/>
                </a:solidFill>
                <a:latin typeface="Arial"/>
              </a:defRPr>
            </a:pPr>
            <a:r>
              <a:t>  - Reinforcement Learning (Bandits): Use contextual bandits to continuously trade-off exploration vs exploitation.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